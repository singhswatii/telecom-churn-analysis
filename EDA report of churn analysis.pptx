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10.png" ContentType="image/png"/>
  <Override PartName="/ppt/media/image5.png" ContentType="image/png"/>
  <Override PartName="/ppt/media/image11.png" ContentType="image/png"/>
  <Override PartName="/ppt/media/image6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2458A32-6F39-413E-A8CB-00B076DCBC61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81589-658C-48A9-92FC-7D9698EA0F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84E15D-6403-4A2E-B4B4-199DDBD41A6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B42E4-79AE-4686-8149-2623552D46D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90EA51-4F51-417E-A0C6-97C5FE5CA84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2488BE-E007-44FE-8CCF-4D81ABDFC5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B177F2-D934-44B7-B7FB-028057B3A16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73DAF6-750C-4267-A885-7EB9B1AA505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007BBE-5E19-4B5B-AE33-ACC95BDF666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8ADC3D-891A-4F78-A73F-E7006C3965E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304332-09C9-4741-B71D-50A266826A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0E02E9-4A19-4C3A-9101-B3B506DEDC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0A246D-5632-4341-8C76-43451B23C20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496C80-32ED-4CD5-8C1C-93F7018A1C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4E87F3-E73C-487D-B3C9-37B83213B7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8778240" y="-2011680"/>
            <a:ext cx="5486040" cy="5486040"/>
          </a:xfrm>
          <a:prstGeom prst="ellipse">
            <a:avLst/>
          </a:prstGeom>
          <a:solidFill>
            <a:srgbClr val="028090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-2286000" y="4389120"/>
            <a:ext cx="5028840" cy="5028840"/>
          </a:xfrm>
          <a:prstGeom prst="ellipse">
            <a:avLst/>
          </a:prstGeom>
          <a:solidFill>
            <a:srgbClr val="00a896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822960" y="19659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02c39a"/>
                </a:solidFill>
                <a:latin typeface="Calibri"/>
                <a:ea typeface="Calibri"/>
              </a:rPr>
              <a:t>DATA ANALYST PORTFOLIO PROJECT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777240" y="2331720"/>
            <a:ext cx="10058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mbria"/>
                <a:ea typeface="Cambria"/>
              </a:rPr>
              <a:t>Customer Churn Analysis</a:t>
            </a:r>
            <a:endParaRPr b="0" lang="en-IN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822960" y="342900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febea"/>
                </a:solidFill>
                <a:latin typeface="Calibri"/>
                <a:ea typeface="Calibri"/>
              </a:rPr>
              <a:t>An End-to-End Exploratory Data Analysis to understand why customers leave, and how a telecom business can reduce churn.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822960" y="4251960"/>
            <a:ext cx="2926080" cy="360"/>
          </a:xfrm>
          <a:prstGeom prst="line">
            <a:avLst/>
          </a:prstGeom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822960" y="43891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9fc6c8"/>
                </a:solidFill>
                <a:latin typeface="Calibri"/>
                <a:ea typeface="Calibri"/>
              </a:rPr>
              <a:t>Prepared by: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Swati Singh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22960" y="47548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fc6c8"/>
                </a:solidFill>
                <a:latin typeface="Calibri"/>
                <a:ea typeface="Calibri"/>
              </a:rPr>
              <a:t>Project Type: Individual Data Analytics Project  |  Dataset: Telco Customer Churn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822960" y="5623560"/>
            <a:ext cx="886680" cy="310680"/>
          </a:xfrm>
          <a:prstGeom prst="roundRect">
            <a:avLst>
              <a:gd name="adj" fmla="val 23529"/>
            </a:avLst>
          </a:prstGeom>
          <a:solidFill>
            <a:srgbClr val="0f3d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822960" y="5623560"/>
            <a:ext cx="886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Python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1911240" y="5623560"/>
            <a:ext cx="886680" cy="310680"/>
          </a:xfrm>
          <a:prstGeom prst="roundRect">
            <a:avLst>
              <a:gd name="adj" fmla="val 23529"/>
            </a:avLst>
          </a:prstGeom>
          <a:solidFill>
            <a:srgbClr val="0f3d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1911240" y="5623560"/>
            <a:ext cx="886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Pandas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2999160" y="5623560"/>
            <a:ext cx="790560" cy="310680"/>
          </a:xfrm>
          <a:prstGeom prst="roundRect">
            <a:avLst>
              <a:gd name="adj" fmla="val 23529"/>
            </a:avLst>
          </a:prstGeom>
          <a:solidFill>
            <a:srgbClr val="0f3d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2999160" y="5623560"/>
            <a:ext cx="790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NumPy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3991320" y="5623560"/>
            <a:ext cx="1270800" cy="310680"/>
          </a:xfrm>
          <a:prstGeom prst="roundRect">
            <a:avLst>
              <a:gd name="adj" fmla="val 23529"/>
            </a:avLst>
          </a:prstGeom>
          <a:solidFill>
            <a:srgbClr val="0f3d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3991320" y="5623560"/>
            <a:ext cx="1270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Matplotlib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16"/>
          <p:cNvSpPr/>
          <p:nvPr/>
        </p:nvSpPr>
        <p:spPr>
          <a:xfrm>
            <a:off x="5463720" y="5623560"/>
            <a:ext cx="982800" cy="310680"/>
          </a:xfrm>
          <a:prstGeom prst="roundRect">
            <a:avLst>
              <a:gd name="adj" fmla="val 23529"/>
            </a:avLst>
          </a:prstGeom>
          <a:solidFill>
            <a:srgbClr val="0f3d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5463720" y="5623560"/>
            <a:ext cx="982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Seaborn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8"/>
          <p:cNvSpPr/>
          <p:nvPr/>
        </p:nvSpPr>
        <p:spPr>
          <a:xfrm>
            <a:off x="822960" y="53218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6fa9ab"/>
                </a:solidFill>
                <a:latin typeface="Calibri"/>
                <a:ea typeface="Calibri"/>
              </a:rPr>
              <a:t>TOOLS USED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502920" y="38412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2027"/>
                </a:solidFill>
                <a:latin typeface="Cambria"/>
                <a:ea typeface="Cambria"/>
              </a:rPr>
              <a:t>Business Understanding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521280" y="1461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028090"/>
                </a:solidFill>
                <a:latin typeface="Calibri"/>
                <a:ea typeface="Calibri"/>
              </a:rPr>
              <a:t>THE PROBLEM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502920" y="1234440"/>
            <a:ext cx="11182680" cy="1051200"/>
          </a:xfrm>
          <a:prstGeom prst="roundRect">
            <a:avLst>
              <a:gd name="adj" fmla="val 8696"/>
            </a:avLst>
          </a:prstGeom>
          <a:solidFill>
            <a:srgbClr val="f2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777240" y="1353240"/>
            <a:ext cx="10634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Calibri"/>
                <a:ea typeface="Calibri"/>
              </a:rPr>
              <a:t>What is Customer Churn?  </a:t>
            </a:r>
            <a:r>
              <a:rPr b="0" lang="en-US" sz="1400" spc="-1" strike="noStrike">
                <a:solidFill>
                  <a:srgbClr val="0b2027"/>
                </a:solidFill>
                <a:latin typeface="Calibri"/>
                <a:ea typeface="Calibri"/>
              </a:rPr>
              <a:t>Churn simply means a customer stops using a company's service. In this project, churn means a telecom customer cancelled their connection and left the company.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502920" y="2606040"/>
            <a:ext cx="3513960" cy="356580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1ebeb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5"/>
          <p:cNvSpPr/>
          <p:nvPr/>
        </p:nvSpPr>
        <p:spPr>
          <a:xfrm>
            <a:off x="758880" y="2898720"/>
            <a:ext cx="502560" cy="50256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758880" y="2898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758880" y="3566160"/>
            <a:ext cx="300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2027"/>
                </a:solidFill>
                <a:latin typeface="Cambria"/>
                <a:ea typeface="Cambria"/>
              </a:rPr>
              <a:t>Why It Matters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758880" y="4069080"/>
            <a:ext cx="3002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7a7d"/>
                </a:solidFill>
                <a:latin typeface="Calibri"/>
                <a:ea typeface="Calibri"/>
              </a:rPr>
              <a:t>Getting a new customer costs much more than keeping an old one. If a business knows who is likely to leave, it can act early and save that customer.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9"/>
          <p:cNvSpPr/>
          <p:nvPr/>
        </p:nvSpPr>
        <p:spPr>
          <a:xfrm>
            <a:off x="4337280" y="2606040"/>
            <a:ext cx="3513960" cy="356580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1ebeb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4593240" y="2898720"/>
            <a:ext cx="502560" cy="50256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4593240" y="2898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4593240" y="3566160"/>
            <a:ext cx="300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2027"/>
                </a:solidFill>
                <a:latin typeface="Cambria"/>
                <a:ea typeface="Cambria"/>
              </a:rPr>
              <a:t>Business Problem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4593240" y="4069080"/>
            <a:ext cx="3002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7a7d"/>
                </a:solidFill>
                <a:latin typeface="Calibri"/>
                <a:ea typeface="Calibri"/>
              </a:rPr>
              <a:t>The company does not know which customers are about to leave, or what is pushing them away. This leads to lost revenue every month.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4"/>
          <p:cNvSpPr/>
          <p:nvPr/>
        </p:nvSpPr>
        <p:spPr>
          <a:xfrm>
            <a:off x="8171640" y="2606040"/>
            <a:ext cx="3513960" cy="356580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1ebeb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5"/>
          <p:cNvSpPr/>
          <p:nvPr/>
        </p:nvSpPr>
        <p:spPr>
          <a:xfrm>
            <a:off x="8427600" y="2898720"/>
            <a:ext cx="502560" cy="502560"/>
          </a:xfrm>
          <a:prstGeom prst="roundRect">
            <a:avLst>
              <a:gd name="adj" fmla="val 50909"/>
            </a:avLst>
          </a:prstGeom>
          <a:solidFill>
            <a:srgbClr val="e457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6"/>
          <p:cNvSpPr/>
          <p:nvPr/>
        </p:nvSpPr>
        <p:spPr>
          <a:xfrm>
            <a:off x="8427600" y="2898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7"/>
          <p:cNvSpPr/>
          <p:nvPr/>
        </p:nvSpPr>
        <p:spPr>
          <a:xfrm>
            <a:off x="8427600" y="3566160"/>
            <a:ext cx="300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2027"/>
                </a:solidFill>
                <a:latin typeface="Cambria"/>
                <a:ea typeface="Cambria"/>
              </a:rPr>
              <a:t>Project Objective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8"/>
          <p:cNvSpPr/>
          <p:nvPr/>
        </p:nvSpPr>
        <p:spPr>
          <a:xfrm>
            <a:off x="8427600" y="4069080"/>
            <a:ext cx="3002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7a7d"/>
                </a:solidFill>
                <a:latin typeface="Calibri"/>
                <a:ea typeface="Calibri"/>
              </a:rPr>
              <a:t>To study customer data, find the real patterns and reasons behind churn, and turn them into simple insights the business can act on.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9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Customer Churn Analysis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0"/>
          <p:cNvSpPr/>
          <p:nvPr/>
        </p:nvSpPr>
        <p:spPr>
          <a:xfrm>
            <a:off x="11274480" y="6528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2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502920" y="38412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2027"/>
                </a:solidFill>
                <a:latin typeface="Cambria"/>
                <a:ea typeface="Cambria"/>
              </a:rPr>
              <a:t>Dataset Understanding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521280" y="1461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028090"/>
                </a:solidFill>
                <a:latin typeface="Calibri"/>
                <a:ea typeface="Calibri"/>
              </a:rPr>
              <a:t>THE DATA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502920" y="1371600"/>
            <a:ext cx="3657240" cy="959760"/>
          </a:xfrm>
          <a:prstGeom prst="roundRect">
            <a:avLst>
              <a:gd name="adj" fmla="val 9524"/>
            </a:avLst>
          </a:prstGeom>
          <a:solidFill>
            <a:srgbClr val="f2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713160" y="1444680"/>
            <a:ext cx="15541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28090"/>
                </a:solidFill>
                <a:latin typeface="Cambria"/>
                <a:ea typeface="Cambria"/>
              </a:rPr>
              <a:t>7,043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2240280" y="1444680"/>
            <a:ext cx="17827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b2027"/>
                </a:solidFill>
                <a:latin typeface="Calibri"/>
                <a:ea typeface="Calibri"/>
              </a:rPr>
              <a:t>Customer Records (rows)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502920" y="2487240"/>
            <a:ext cx="3657240" cy="959760"/>
          </a:xfrm>
          <a:prstGeom prst="roundRect">
            <a:avLst>
              <a:gd name="adj" fmla="val 9524"/>
            </a:avLst>
          </a:prstGeom>
          <a:solidFill>
            <a:srgbClr val="f2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713160" y="2560320"/>
            <a:ext cx="15541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28090"/>
                </a:solidFill>
                <a:latin typeface="Cambria"/>
                <a:ea typeface="Cambria"/>
              </a:rPr>
              <a:t>21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2240280" y="2560320"/>
            <a:ext cx="17827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b2027"/>
                </a:solidFill>
                <a:latin typeface="Calibri"/>
                <a:ea typeface="Calibri"/>
              </a:rPr>
              <a:t>Columns collected per customer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8"/>
          <p:cNvSpPr/>
          <p:nvPr/>
        </p:nvSpPr>
        <p:spPr>
          <a:xfrm>
            <a:off x="502920" y="3602880"/>
            <a:ext cx="3657240" cy="959760"/>
          </a:xfrm>
          <a:prstGeom prst="roundRect">
            <a:avLst>
              <a:gd name="adj" fmla="val 9524"/>
            </a:avLst>
          </a:prstGeom>
          <a:solidFill>
            <a:srgbClr val="f2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713160" y="3675960"/>
            <a:ext cx="15541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28090"/>
                </a:solidFill>
                <a:latin typeface="Cambria"/>
                <a:ea typeface="Cambria"/>
              </a:rPr>
              <a:t>Churn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0"/>
          <p:cNvSpPr/>
          <p:nvPr/>
        </p:nvSpPr>
        <p:spPr>
          <a:xfrm>
            <a:off x="2240280" y="3675960"/>
            <a:ext cx="17827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b2027"/>
                </a:solidFill>
                <a:latin typeface="Calibri"/>
                <a:ea typeface="Calibri"/>
              </a:rPr>
              <a:t>Target Variable (Yes / No)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1"/>
          <p:cNvSpPr/>
          <p:nvPr/>
        </p:nvSpPr>
        <p:spPr>
          <a:xfrm>
            <a:off x="502920" y="4809600"/>
            <a:ext cx="3657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7a7d"/>
                </a:solidFill>
                <a:latin typeface="Calibri"/>
                <a:ea typeface="Calibri"/>
              </a:rPr>
              <a:t>Data types: a mix of text/categorical columns (like gender, Contract, PaymentMethod) and numeric columns (like tenure, MonthlyCharges, TotalCharges).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502920" y="572400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7a7d"/>
                </a:solidFill>
                <a:latin typeface="Calibri"/>
                <a:ea typeface="Calibri"/>
              </a:rPr>
              <a:t>Important features: tenure, MonthlyCharges, TotalCharges, Contract, InternetService, PaymentMethod, OnlineSecurity, TechSupport.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3"/>
          <p:cNvSpPr/>
          <p:nvPr/>
        </p:nvSpPr>
        <p:spPr>
          <a:xfrm>
            <a:off x="4507920" y="1307520"/>
            <a:ext cx="4379760" cy="2651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Image 0" descr="/home/claude/imgs/img-000.png"/>
          <p:cNvPicPr/>
          <p:nvPr/>
        </p:nvPicPr>
        <p:blipFill>
          <a:blip r:embed="rId1"/>
          <a:stretch/>
        </p:blipFill>
        <p:spPr>
          <a:xfrm>
            <a:off x="4617720" y="1417320"/>
            <a:ext cx="4160160" cy="2194200"/>
          </a:xfrm>
          <a:prstGeom prst="rect">
            <a:avLst/>
          </a:prstGeom>
          <a:ln w="0">
            <a:noFill/>
          </a:ln>
        </p:spPr>
      </p:pic>
      <p:sp>
        <p:nvSpPr>
          <p:cNvPr id="99" name="Text 14"/>
          <p:cNvSpPr/>
          <p:nvPr/>
        </p:nvSpPr>
        <p:spPr>
          <a:xfrm>
            <a:off x="4572000" y="363024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First 5 rows of the dataset (21 columns)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5"/>
          <p:cNvSpPr/>
          <p:nvPr/>
        </p:nvSpPr>
        <p:spPr>
          <a:xfrm>
            <a:off x="4617720" y="3977640"/>
            <a:ext cx="7086240" cy="1599840"/>
          </a:xfrm>
          <a:prstGeom prst="roundRect">
            <a:avLst>
              <a:gd name="adj" fmla="val 5714"/>
            </a:avLst>
          </a:prstGeom>
          <a:solidFill>
            <a:srgbClr val="fff3ee"/>
          </a:solidFill>
          <a:ln w="12700">
            <a:solidFill>
              <a:srgbClr val="e457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6"/>
          <p:cNvSpPr/>
          <p:nvPr/>
        </p:nvSpPr>
        <p:spPr>
          <a:xfrm>
            <a:off x="4892040" y="4114800"/>
            <a:ext cx="6583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b7431f"/>
                </a:solidFill>
                <a:latin typeface="Cambria"/>
                <a:ea typeface="Cambria"/>
              </a:rPr>
              <a:t>Is the Target Variable Balanced?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7"/>
          <p:cNvSpPr/>
          <p:nvPr/>
        </p:nvSpPr>
        <p:spPr>
          <a:xfrm>
            <a:off x="4892040" y="4453200"/>
            <a:ext cx="6537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b2027"/>
                </a:solidFill>
                <a:latin typeface="Calibri"/>
                <a:ea typeface="Calibri"/>
              </a:rPr>
              <a:t>No it is imbalanced. </a:t>
            </a:r>
            <a:r>
              <a:rPr b="0" lang="en-US" sz="1250" spc="-1" strike="noStrike">
                <a:solidFill>
                  <a:srgbClr val="0b2027"/>
                </a:solidFill>
                <a:latin typeface="Calibri"/>
                <a:ea typeface="Calibri"/>
              </a:rPr>
              <a:t>About 73% of customers did NOT churn and only 27% churned. This means “Churn = Yes” is the minority group, so any conclusion or model built on this data must treat that smaller group carefully, or it may miss real churn cases.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8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Customer Churn Analysis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9"/>
          <p:cNvSpPr/>
          <p:nvPr/>
        </p:nvSpPr>
        <p:spPr>
          <a:xfrm>
            <a:off x="11274480" y="6528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502920" y="38412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2027"/>
                </a:solidFill>
                <a:latin typeface="Cambria"/>
                <a:ea typeface="Cambria"/>
              </a:rPr>
              <a:t>Data Cleaning &amp; Preprocessing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521280" y="1461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028090"/>
                </a:solidFill>
                <a:latin typeface="Calibri"/>
                <a:ea typeface="Calibri"/>
              </a:rPr>
              <a:t>GETTING THE DATA READY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502920" y="1280160"/>
            <a:ext cx="5408280" cy="1462680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3"/>
          <p:cNvSpPr/>
          <p:nvPr/>
        </p:nvSpPr>
        <p:spPr>
          <a:xfrm>
            <a:off x="704160" y="1481400"/>
            <a:ext cx="72720" cy="106020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914400" y="1426320"/>
            <a:ext cx="4813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b2027"/>
                </a:solidFill>
                <a:latin typeface="Cambria"/>
                <a:ea typeface="Cambria"/>
              </a:rPr>
              <a:t>1. Fixed TotalCharges Format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914400" y="1792080"/>
            <a:ext cx="4813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7a7d"/>
                </a:solidFill>
                <a:latin typeface="Calibri"/>
                <a:ea typeface="Calibri"/>
              </a:rPr>
              <a:t>TotalCharges was stored as text, not numbers, because some cells had blank spaces instead of a value. It was converted into a proper numeric column using pd.to_numeric().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6"/>
          <p:cNvSpPr/>
          <p:nvPr/>
        </p:nvSpPr>
        <p:spPr>
          <a:xfrm>
            <a:off x="6277320" y="1280160"/>
            <a:ext cx="5408280" cy="1462680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7"/>
          <p:cNvSpPr/>
          <p:nvPr/>
        </p:nvSpPr>
        <p:spPr>
          <a:xfrm>
            <a:off x="6478560" y="1481400"/>
            <a:ext cx="72720" cy="106020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8"/>
          <p:cNvSpPr/>
          <p:nvPr/>
        </p:nvSpPr>
        <p:spPr>
          <a:xfrm>
            <a:off x="6688800" y="1426320"/>
            <a:ext cx="4813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b2027"/>
                </a:solidFill>
                <a:latin typeface="Cambria"/>
                <a:ea typeface="Cambria"/>
              </a:rPr>
              <a:t>2. Handled Missing Values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6688800" y="1792080"/>
            <a:ext cx="4813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7a7d"/>
                </a:solidFill>
                <a:latin typeface="Calibri"/>
                <a:ea typeface="Calibri"/>
              </a:rPr>
              <a:t>This conversion created a small number of missing values — only 0.15% of all rows (11 out of 7,043). Since this is such a tiny share, these rows were safely dropped.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10"/>
          <p:cNvSpPr/>
          <p:nvPr/>
        </p:nvSpPr>
        <p:spPr>
          <a:xfrm>
            <a:off x="502920" y="2971800"/>
            <a:ext cx="5408280" cy="1462680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11"/>
          <p:cNvSpPr/>
          <p:nvPr/>
        </p:nvSpPr>
        <p:spPr>
          <a:xfrm>
            <a:off x="704160" y="3173040"/>
            <a:ext cx="72720" cy="106020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914400" y="3117960"/>
            <a:ext cx="4813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b2027"/>
                </a:solidFill>
                <a:latin typeface="Cambria"/>
                <a:ea typeface="Cambria"/>
              </a:rPr>
              <a:t>3. Grouped Tenure into Bins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914400" y="3483720"/>
            <a:ext cx="4813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7a7d"/>
                </a:solidFill>
                <a:latin typeface="Calibri"/>
                <a:ea typeface="Calibri"/>
              </a:rPr>
              <a:t>The tenure column (in months) was grouped into 6 easy bins of 12 months each: 1-12, 13-24, 25-36, 37-48, 49-60, and 61-72. This makes the loyalty pattern much easier to read.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4"/>
          <p:cNvSpPr/>
          <p:nvPr/>
        </p:nvSpPr>
        <p:spPr>
          <a:xfrm>
            <a:off x="6277320" y="2971800"/>
            <a:ext cx="5408280" cy="1462680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5"/>
          <p:cNvSpPr/>
          <p:nvPr/>
        </p:nvSpPr>
        <p:spPr>
          <a:xfrm>
            <a:off x="6478560" y="3173040"/>
            <a:ext cx="72720" cy="106020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6688800" y="3117960"/>
            <a:ext cx="4813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b2027"/>
                </a:solidFill>
                <a:latin typeface="Cambria"/>
                <a:ea typeface="Cambria"/>
              </a:rPr>
              <a:t>4. Removed Unneeded Columns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7"/>
          <p:cNvSpPr/>
          <p:nvPr/>
        </p:nvSpPr>
        <p:spPr>
          <a:xfrm>
            <a:off x="6688800" y="3483720"/>
            <a:ext cx="4813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7a7d"/>
                </a:solidFill>
                <a:latin typeface="Calibri"/>
                <a:ea typeface="Calibri"/>
              </a:rPr>
              <a:t>customerID was dropped because it is just an ID with no analysis value, and the raw tenure column was dropped once tenure_group was created from it.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8"/>
          <p:cNvSpPr/>
          <p:nvPr/>
        </p:nvSpPr>
        <p:spPr>
          <a:xfrm>
            <a:off x="8622720" y="1170360"/>
            <a:ext cx="3191040" cy="1938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Image 0" descr="/home/claude/imgs/img-000.png"/>
          <p:cNvPicPr/>
          <p:nvPr/>
        </p:nvPicPr>
        <p:blipFill>
          <a:blip r:embed="rId1"/>
          <a:stretch/>
        </p:blipFill>
        <p:spPr>
          <a:xfrm>
            <a:off x="8732520" y="1280160"/>
            <a:ext cx="2971440" cy="1481040"/>
          </a:xfrm>
          <a:prstGeom prst="rect">
            <a:avLst/>
          </a:prstGeom>
          <a:ln w="0">
            <a:noFill/>
          </a:ln>
        </p:spPr>
      </p:pic>
      <p:sp>
        <p:nvSpPr>
          <p:cNvPr id="125" name="Text 19"/>
          <p:cNvSpPr/>
          <p:nvPr/>
        </p:nvSpPr>
        <p:spPr>
          <a:xfrm>
            <a:off x="8686800" y="2779920"/>
            <a:ext cx="3062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Converting TotalCharges to numeric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20"/>
          <p:cNvSpPr/>
          <p:nvPr/>
        </p:nvSpPr>
        <p:spPr>
          <a:xfrm>
            <a:off x="8622720" y="3017520"/>
            <a:ext cx="3191040" cy="2267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Image 1" descr="/home/claude/imgs/img-001.png"/>
          <p:cNvPicPr/>
          <p:nvPr/>
        </p:nvPicPr>
        <p:blipFill>
          <a:blip r:embed="rId2"/>
          <a:stretch/>
        </p:blipFill>
        <p:spPr>
          <a:xfrm>
            <a:off x="8732520" y="3127320"/>
            <a:ext cx="2971440" cy="1810080"/>
          </a:xfrm>
          <a:prstGeom prst="rect">
            <a:avLst/>
          </a:prstGeom>
          <a:ln w="0">
            <a:noFill/>
          </a:ln>
        </p:spPr>
      </p:pic>
      <p:sp>
        <p:nvSpPr>
          <p:cNvPr id="128" name="Text 21"/>
          <p:cNvSpPr/>
          <p:nvPr/>
        </p:nvSpPr>
        <p:spPr>
          <a:xfrm>
            <a:off x="8686800" y="4956120"/>
            <a:ext cx="3062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Tenure grouped into 6 bins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22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Customer Churn Analysis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23"/>
          <p:cNvSpPr/>
          <p:nvPr/>
        </p:nvSpPr>
        <p:spPr>
          <a:xfrm>
            <a:off x="11274480" y="6528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4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502920" y="38412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2027"/>
                </a:solidFill>
                <a:latin typeface="Cambria"/>
                <a:ea typeface="Cambria"/>
              </a:rPr>
              <a:t>Univariate Analysis — Customer Profile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521280" y="1461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028090"/>
                </a:solidFill>
                <a:latin typeface="Calibri"/>
                <a:ea typeface="Calibri"/>
              </a:rPr>
              <a:t>EXPLORATORY DATA ANALYSIS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502920" y="1051560"/>
            <a:ext cx="1118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b7a7d"/>
                </a:solidFill>
                <a:latin typeface="Calibri"/>
                <a:ea typeface="Calibri"/>
              </a:rPr>
              <a:t>Each chart below looks at one customer feature at a time, split by Churn (blue = stayed, orange = left).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393120" y="1398960"/>
            <a:ext cx="3511080" cy="278856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Image 0" descr="/home/claude/imgs/img-002.png"/>
          <p:cNvPicPr/>
          <p:nvPr/>
        </p:nvPicPr>
        <p:blipFill>
          <a:blip r:embed="rId1"/>
          <a:stretch/>
        </p:blipFill>
        <p:spPr>
          <a:xfrm>
            <a:off x="502920" y="1508760"/>
            <a:ext cx="3291480" cy="2331360"/>
          </a:xfrm>
          <a:prstGeom prst="rect">
            <a:avLst/>
          </a:prstGeom>
          <a:ln w="0">
            <a:noFill/>
          </a:ln>
        </p:spPr>
      </p:pic>
      <p:sp>
        <p:nvSpPr>
          <p:cNvPr id="136" name="Text 4"/>
          <p:cNvSpPr/>
          <p:nvPr/>
        </p:nvSpPr>
        <p:spPr>
          <a:xfrm>
            <a:off x="457200" y="3858840"/>
            <a:ext cx="3382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Gender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5"/>
          <p:cNvSpPr/>
          <p:nvPr/>
        </p:nvSpPr>
        <p:spPr>
          <a:xfrm>
            <a:off x="4005000" y="1398960"/>
            <a:ext cx="3511080" cy="278856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Image 1" descr="/home/claude/imgs/img-003.png"/>
          <p:cNvPicPr/>
          <p:nvPr/>
        </p:nvPicPr>
        <p:blipFill>
          <a:blip r:embed="rId2"/>
          <a:stretch/>
        </p:blipFill>
        <p:spPr>
          <a:xfrm>
            <a:off x="4114800" y="1508760"/>
            <a:ext cx="3291480" cy="2331360"/>
          </a:xfrm>
          <a:prstGeom prst="rect">
            <a:avLst/>
          </a:prstGeom>
          <a:ln w="0">
            <a:noFill/>
          </a:ln>
        </p:spPr>
      </p:pic>
      <p:sp>
        <p:nvSpPr>
          <p:cNvPr id="139" name="Text 6"/>
          <p:cNvSpPr/>
          <p:nvPr/>
        </p:nvSpPr>
        <p:spPr>
          <a:xfrm>
            <a:off x="4069080" y="3858840"/>
            <a:ext cx="3382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Senior Citizen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7616880" y="1398960"/>
            <a:ext cx="4151160" cy="278856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Image 2" descr="/home/claude/imgs/img-004.png"/>
          <p:cNvPicPr/>
          <p:nvPr/>
        </p:nvPicPr>
        <p:blipFill>
          <a:blip r:embed="rId3"/>
          <a:stretch/>
        </p:blipFill>
        <p:spPr>
          <a:xfrm>
            <a:off x="7726680" y="1508760"/>
            <a:ext cx="3931560" cy="2331360"/>
          </a:xfrm>
          <a:prstGeom prst="rect">
            <a:avLst/>
          </a:prstGeom>
          <a:ln w="0">
            <a:noFill/>
          </a:ln>
        </p:spPr>
      </p:pic>
      <p:sp>
        <p:nvSpPr>
          <p:cNvPr id="142" name="Text 8"/>
          <p:cNvSpPr/>
          <p:nvPr/>
        </p:nvSpPr>
        <p:spPr>
          <a:xfrm>
            <a:off x="7680960" y="3858840"/>
            <a:ext cx="4023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Partner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9"/>
          <p:cNvSpPr/>
          <p:nvPr/>
        </p:nvSpPr>
        <p:spPr>
          <a:xfrm>
            <a:off x="502920" y="4160520"/>
            <a:ext cx="11182680" cy="1965600"/>
          </a:xfrm>
          <a:prstGeom prst="roundRect">
            <a:avLst>
              <a:gd name="adj" fmla="val 4651"/>
            </a:avLst>
          </a:prstGeom>
          <a:solidFill>
            <a:srgbClr val="f2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777240" y="429768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28090"/>
                </a:solidFill>
                <a:latin typeface="Calibri"/>
                <a:ea typeface="Calibri"/>
              </a:rPr>
              <a:t>KEY INSIGHTS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777240" y="4617720"/>
            <a:ext cx="10634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8000"/>
              </a:lnSpc>
              <a:spcAft>
                <a:spcPts val="799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250" spc="-1" strike="noStrike">
                <a:solidFill>
                  <a:srgbClr val="0b2027"/>
                </a:solidFill>
                <a:latin typeface="Calibri"/>
                <a:ea typeface="Calibri"/>
              </a:rPr>
              <a:t>Gender: churn is almost equal for males and females (about 26% each). Gender does not affect churn.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spcAft>
                <a:spcPts val="799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250" spc="-1" strike="noStrike">
                <a:solidFill>
                  <a:srgbClr val="0b2027"/>
                </a:solidFill>
                <a:latin typeface="Calibri"/>
                <a:ea typeface="Calibri"/>
              </a:rPr>
              <a:t>Senior Citizen: senior citizens churn at a much higher rate (~42%) than non-seniors (~24%)  even though non-seniors have more churners in total, simply because there are far more non-senior customers overall.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spcAft>
                <a:spcPts val="799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250" spc="-1" strike="noStrike">
                <a:solidFill>
                  <a:srgbClr val="0b2027"/>
                </a:solidFill>
                <a:latin typeface="Calibri"/>
                <a:ea typeface="Calibri"/>
              </a:rPr>
              <a:t>Partner: customers with no partner churn noticeably more than customers who have a partner, suggesting single customers are less “attached” to the service.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Customer Churn Analysis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3"/>
          <p:cNvSpPr/>
          <p:nvPr/>
        </p:nvSpPr>
        <p:spPr>
          <a:xfrm>
            <a:off x="11274480" y="6528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5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502920" y="38412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2027"/>
                </a:solidFill>
                <a:latin typeface="Cambria"/>
                <a:ea typeface="Cambria"/>
              </a:rPr>
              <a:t>Univariate Analysis — Services &amp; Billing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521280" y="1461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028090"/>
                </a:solidFill>
                <a:latin typeface="Calibri"/>
                <a:ea typeface="Calibri"/>
              </a:rPr>
              <a:t>EXPLORATORY DATA ANALYSIS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"/>
          <p:cNvSpPr/>
          <p:nvPr/>
        </p:nvSpPr>
        <p:spPr>
          <a:xfrm>
            <a:off x="393120" y="1124640"/>
            <a:ext cx="2733840" cy="3702960"/>
          </a:xfrm>
          <a:prstGeom prst="roundRect">
            <a:avLst>
              <a:gd name="adj" fmla="val 2676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Image 0" descr="/home/claude/imgs/cropped/img-007-chart.png"/>
          <p:cNvPicPr/>
          <p:nvPr/>
        </p:nvPicPr>
        <p:blipFill>
          <a:blip r:embed="rId1"/>
          <a:stretch/>
        </p:blipFill>
        <p:spPr>
          <a:xfrm>
            <a:off x="502920" y="1234440"/>
            <a:ext cx="2514240" cy="3245760"/>
          </a:xfrm>
          <a:prstGeom prst="rect">
            <a:avLst/>
          </a:prstGeom>
          <a:ln w="0">
            <a:noFill/>
          </a:ln>
        </p:spPr>
      </p:pic>
      <p:sp>
        <p:nvSpPr>
          <p:cNvPr id="152" name="Text 3"/>
          <p:cNvSpPr/>
          <p:nvPr/>
        </p:nvSpPr>
        <p:spPr>
          <a:xfrm>
            <a:off x="457200" y="4498920"/>
            <a:ext cx="2605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Online Backup &amp; Device Protection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4"/>
          <p:cNvSpPr/>
          <p:nvPr/>
        </p:nvSpPr>
        <p:spPr>
          <a:xfrm>
            <a:off x="3182040" y="1124640"/>
            <a:ext cx="2733840" cy="3702960"/>
          </a:xfrm>
          <a:prstGeom prst="roundRect">
            <a:avLst>
              <a:gd name="adj" fmla="val 2676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Image 1" descr="/home/claude/imgs/cropped/img-008.png"/>
          <p:cNvPicPr/>
          <p:nvPr/>
        </p:nvPicPr>
        <p:blipFill>
          <a:blip r:embed="rId2"/>
          <a:stretch/>
        </p:blipFill>
        <p:spPr>
          <a:xfrm>
            <a:off x="3291840" y="1234440"/>
            <a:ext cx="2514240" cy="3245760"/>
          </a:xfrm>
          <a:prstGeom prst="rect">
            <a:avLst/>
          </a:prstGeom>
          <a:ln w="0">
            <a:noFill/>
          </a:ln>
        </p:spPr>
      </p:pic>
      <p:sp>
        <p:nvSpPr>
          <p:cNvPr id="155" name="Text 5"/>
          <p:cNvSpPr/>
          <p:nvPr/>
        </p:nvSpPr>
        <p:spPr>
          <a:xfrm>
            <a:off x="3246120" y="4498920"/>
            <a:ext cx="2605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Payment Method &amp; Tenure Group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6"/>
          <p:cNvSpPr/>
          <p:nvPr/>
        </p:nvSpPr>
        <p:spPr>
          <a:xfrm>
            <a:off x="5970960" y="1124640"/>
            <a:ext cx="2505240" cy="370296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" name="Image 2" descr="/home/claude/imgs/img-005.png"/>
          <p:cNvPicPr/>
          <p:nvPr/>
        </p:nvPicPr>
        <p:blipFill>
          <a:blip r:embed="rId3"/>
          <a:stretch/>
        </p:blipFill>
        <p:spPr>
          <a:xfrm>
            <a:off x="6080760" y="1234440"/>
            <a:ext cx="2285640" cy="3245760"/>
          </a:xfrm>
          <a:prstGeom prst="rect">
            <a:avLst/>
          </a:prstGeom>
          <a:ln w="0">
            <a:noFill/>
          </a:ln>
        </p:spPr>
      </p:pic>
      <p:sp>
        <p:nvSpPr>
          <p:cNvPr id="158" name="Text 7"/>
          <p:cNvSpPr/>
          <p:nvPr/>
        </p:nvSpPr>
        <p:spPr>
          <a:xfrm>
            <a:off x="6035040" y="449892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Phone Service &amp; Multiple Lines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>
            <a:off x="8531280" y="1124640"/>
            <a:ext cx="2505240" cy="370296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Image 3" descr="/home/claude/imgs/img-006.png"/>
          <p:cNvPicPr/>
          <p:nvPr/>
        </p:nvPicPr>
        <p:blipFill>
          <a:blip r:embed="rId4"/>
          <a:stretch/>
        </p:blipFill>
        <p:spPr>
          <a:xfrm>
            <a:off x="8641080" y="1234440"/>
            <a:ext cx="2285640" cy="3245760"/>
          </a:xfrm>
          <a:prstGeom prst="rect">
            <a:avLst/>
          </a:prstGeom>
          <a:ln w="0">
            <a:noFill/>
          </a:ln>
        </p:spPr>
      </p:pic>
      <p:sp>
        <p:nvSpPr>
          <p:cNvPr id="161" name="Text 9"/>
          <p:cNvSpPr/>
          <p:nvPr/>
        </p:nvSpPr>
        <p:spPr>
          <a:xfrm>
            <a:off x="8595360" y="449892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Internet Service &amp; Online Security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10"/>
          <p:cNvSpPr/>
          <p:nvPr/>
        </p:nvSpPr>
        <p:spPr>
          <a:xfrm>
            <a:off x="502920" y="4709160"/>
            <a:ext cx="11182680" cy="1508400"/>
          </a:xfrm>
          <a:prstGeom prst="roundRect">
            <a:avLst>
              <a:gd name="adj" fmla="val 6061"/>
            </a:avLst>
          </a:prstGeom>
          <a:solidFill>
            <a:srgbClr val="f2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1"/>
          <p:cNvSpPr/>
          <p:nvPr/>
        </p:nvSpPr>
        <p:spPr>
          <a:xfrm>
            <a:off x="777240" y="482796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28090"/>
                </a:solidFill>
                <a:latin typeface="Calibri"/>
                <a:ea typeface="Calibri"/>
              </a:rPr>
              <a:t>KEY INSIGHTS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2"/>
          <p:cNvSpPr/>
          <p:nvPr/>
        </p:nvSpPr>
        <p:spPr>
          <a:xfrm>
            <a:off x="777240" y="5120640"/>
            <a:ext cx="5394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8000"/>
              </a:lnSpc>
              <a:spcAft>
                <a:spcPts val="601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130" spc="-1" strike="noStrike">
                <a:solidFill>
                  <a:srgbClr val="0b2027"/>
                </a:solidFill>
                <a:latin typeface="Calibri"/>
                <a:ea typeface="Calibri"/>
              </a:rPr>
              <a:t>Phone service and multiple lines barely change churn  not a strong driver.</a:t>
            </a:r>
            <a:endParaRPr b="0" lang="en-IN" sz="113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spcAft>
                <a:spcPts val="601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130" spc="-1" strike="noStrike">
                <a:solidFill>
                  <a:srgbClr val="0b2027"/>
                </a:solidFill>
                <a:latin typeface="Calibri"/>
                <a:ea typeface="Calibri"/>
              </a:rPr>
              <a:t>Fiber optic customers churn the most; DSL churns less; no-internet customers churn the least.</a:t>
            </a:r>
            <a:endParaRPr b="0" lang="en-IN" sz="113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spcAft>
                <a:spcPts val="601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130" spc="-1" strike="noStrike">
                <a:solidFill>
                  <a:srgbClr val="0b2027"/>
                </a:solidFill>
                <a:latin typeface="Calibri"/>
                <a:ea typeface="Calibri"/>
              </a:rPr>
              <a:t>No Online Security, No Online Backup and No Device Protection all show much higher churn than customers who have these add-ons.</a:t>
            </a:r>
            <a:endParaRPr b="0" lang="en-IN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3"/>
          <p:cNvSpPr/>
          <p:nvPr/>
        </p:nvSpPr>
        <p:spPr>
          <a:xfrm>
            <a:off x="6309360" y="5120640"/>
            <a:ext cx="5394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8000"/>
              </a:lnSpc>
              <a:spcAft>
                <a:spcPts val="601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130" spc="-1" strike="noStrike">
                <a:solidFill>
                  <a:srgbClr val="0b2027"/>
                </a:solidFill>
                <a:latin typeface="Calibri"/>
                <a:ea typeface="Calibri"/>
              </a:rPr>
              <a:t>Electronic check payers churn the most of all payment methods.</a:t>
            </a:r>
            <a:endParaRPr b="0" lang="en-IN" sz="113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spcAft>
                <a:spcPts val="601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130" spc="-1" strike="noStrike">
                <a:solidFill>
                  <a:srgbClr val="0b2027"/>
                </a:solidFill>
                <a:latin typeface="Calibri"/>
                <a:ea typeface="Calibri"/>
              </a:rPr>
              <a:t>New customers (tenure 1-12 months) churn the most; long-time customers (61-72 months) churn the least  loyalty clearly builds over time.</a:t>
            </a:r>
            <a:endParaRPr b="0" lang="en-IN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4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Customer Churn Analysis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5"/>
          <p:cNvSpPr/>
          <p:nvPr/>
        </p:nvSpPr>
        <p:spPr>
          <a:xfrm>
            <a:off x="11274480" y="6528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6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/>
          <p:nvPr/>
        </p:nvSpPr>
        <p:spPr>
          <a:xfrm>
            <a:off x="502920" y="38412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2027"/>
                </a:solidFill>
                <a:latin typeface="Cambria"/>
                <a:ea typeface="Cambria"/>
              </a:rPr>
              <a:t>Categorical Analysis — A Closer Look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521280" y="1461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028090"/>
                </a:solidFill>
                <a:latin typeface="Calibri"/>
                <a:ea typeface="Calibri"/>
              </a:rPr>
              <a:t>FOCUSED ON CHURNED CUSTOMERS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502920" y="1051560"/>
            <a:ext cx="1118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b7a7d"/>
                </a:solidFill>
                <a:latin typeface="Calibri"/>
                <a:ea typeface="Calibri"/>
              </a:rPr>
              <a:t>These charts zoom into only the churned customers, and break them down further by gender.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3"/>
          <p:cNvSpPr/>
          <p:nvPr/>
        </p:nvSpPr>
        <p:spPr>
          <a:xfrm>
            <a:off x="393120" y="1398960"/>
            <a:ext cx="3785400" cy="33372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Image 0" descr="/home/claude/imgs/img-014.png"/>
          <p:cNvPicPr/>
          <p:nvPr/>
        </p:nvPicPr>
        <p:blipFill>
          <a:blip r:embed="rId1"/>
          <a:stretch/>
        </p:blipFill>
        <p:spPr>
          <a:xfrm>
            <a:off x="502920" y="1508760"/>
            <a:ext cx="3565800" cy="2880000"/>
          </a:xfrm>
          <a:prstGeom prst="rect">
            <a:avLst/>
          </a:prstGeom>
          <a:ln w="0">
            <a:noFill/>
          </a:ln>
        </p:spPr>
      </p:pic>
      <p:sp>
        <p:nvSpPr>
          <p:cNvPr id="173" name="Text 4"/>
          <p:cNvSpPr/>
          <p:nvPr/>
        </p:nvSpPr>
        <p:spPr>
          <a:xfrm>
            <a:off x="457200" y="4407480"/>
            <a:ext cx="3657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Gender split, by Partner status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5"/>
          <p:cNvSpPr/>
          <p:nvPr/>
        </p:nvSpPr>
        <p:spPr>
          <a:xfrm>
            <a:off x="4233600" y="1398960"/>
            <a:ext cx="3785400" cy="33372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Image 1" descr="/home/claude/imgs/cropped/img-015-chart.png"/>
          <p:cNvPicPr/>
          <p:nvPr/>
        </p:nvPicPr>
        <p:blipFill>
          <a:blip r:embed="rId2"/>
          <a:stretch/>
        </p:blipFill>
        <p:spPr>
          <a:xfrm>
            <a:off x="4343400" y="1508760"/>
            <a:ext cx="3565800" cy="2880000"/>
          </a:xfrm>
          <a:prstGeom prst="rect">
            <a:avLst/>
          </a:prstGeom>
          <a:ln w="0">
            <a:noFill/>
          </a:ln>
        </p:spPr>
      </p:pic>
      <p:sp>
        <p:nvSpPr>
          <p:cNvPr id="176" name="Text 6"/>
          <p:cNvSpPr/>
          <p:nvPr/>
        </p:nvSpPr>
        <p:spPr>
          <a:xfrm>
            <a:off x="4297680" y="4407480"/>
            <a:ext cx="3657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Contract &amp; Payment Method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7"/>
          <p:cNvSpPr/>
          <p:nvPr/>
        </p:nvSpPr>
        <p:spPr>
          <a:xfrm>
            <a:off x="8074080" y="1398960"/>
            <a:ext cx="3739680" cy="33372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Image 2" descr="/home/claude/imgs/img-016.png"/>
          <p:cNvPicPr/>
          <p:nvPr/>
        </p:nvPicPr>
        <p:blipFill>
          <a:blip r:embed="rId3"/>
          <a:stretch/>
        </p:blipFill>
        <p:spPr>
          <a:xfrm>
            <a:off x="8183880" y="1508760"/>
            <a:ext cx="3520080" cy="2880000"/>
          </a:xfrm>
          <a:prstGeom prst="rect">
            <a:avLst/>
          </a:prstGeom>
          <a:ln w="0">
            <a:noFill/>
          </a:ln>
        </p:spPr>
      </p:pic>
      <p:sp>
        <p:nvSpPr>
          <p:cNvPr id="179" name="Text 8"/>
          <p:cNvSpPr/>
          <p:nvPr/>
        </p:nvSpPr>
        <p:spPr>
          <a:xfrm>
            <a:off x="8138160" y="440748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Tech Support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9"/>
          <p:cNvSpPr/>
          <p:nvPr/>
        </p:nvSpPr>
        <p:spPr>
          <a:xfrm>
            <a:off x="502920" y="4526280"/>
            <a:ext cx="11182680" cy="1737000"/>
          </a:xfrm>
          <a:prstGeom prst="roundRect">
            <a:avLst>
              <a:gd name="adj" fmla="val 5263"/>
            </a:avLst>
          </a:prstGeom>
          <a:solidFill>
            <a:srgbClr val="f2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777240" y="464508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28090"/>
                </a:solidFill>
                <a:latin typeface="Calibri"/>
                <a:ea typeface="Calibri"/>
              </a:rPr>
              <a:t>KEY INSIGHTS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777240" y="4956120"/>
            <a:ext cx="106340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8000"/>
              </a:lnSpc>
              <a:spcAft>
                <a:spcPts val="700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200" spc="-1" strike="noStrike">
                <a:solidFill>
                  <a:srgbClr val="0b2027"/>
                </a:solidFill>
                <a:latin typeface="Calibri"/>
                <a:ea typeface="Calibri"/>
              </a:rPr>
              <a:t>Among churned customers, the male/female split is almost even  gender is not a driver of who churns.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spcAft>
                <a:spcPts val="700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200" spc="-1" strike="noStrike">
                <a:solidFill>
                  <a:srgbClr val="0b2027"/>
                </a:solidFill>
                <a:latin typeface="Calibri"/>
                <a:ea typeface="Calibri"/>
              </a:rPr>
              <a:t>Almost every churned customer was on a Month-to-Month contract; One year and Two year contracts saw very few churners.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spcAft>
                <a:spcPts val="700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200" spc="-1" strike="noStrike">
                <a:solidFill>
                  <a:srgbClr val="0b2027"/>
                </a:solidFill>
                <a:latin typeface="Calibri"/>
                <a:ea typeface="Calibri"/>
              </a:rPr>
              <a:t>Electronic check is by far the most common payment method among churned customers, more than double any other method.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spcAft>
                <a:spcPts val="700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200" spc="-1" strike="noStrike">
                <a:solidFill>
                  <a:srgbClr val="0b2027"/>
                </a:solidFill>
                <a:latin typeface="Calibri"/>
                <a:ea typeface="Calibri"/>
              </a:rPr>
              <a:t>Most churned customers had No Tech Support; customers who had Tech Support churned far less.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2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Customer Churn Analysis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11274480" y="6528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7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/>
          <p:nvPr/>
        </p:nvSpPr>
        <p:spPr>
          <a:xfrm>
            <a:off x="502920" y="38412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2027"/>
                </a:solidFill>
                <a:latin typeface="Cambria"/>
                <a:ea typeface="Cambria"/>
              </a:rPr>
              <a:t>Numerical Analysis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521280" y="1461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028090"/>
                </a:solidFill>
                <a:latin typeface="Calibri"/>
                <a:ea typeface="Calibri"/>
              </a:rPr>
              <a:t>CHARGES &amp; DISTRIBUTIONS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2"/>
          <p:cNvSpPr/>
          <p:nvPr/>
        </p:nvSpPr>
        <p:spPr>
          <a:xfrm>
            <a:off x="393120" y="1170360"/>
            <a:ext cx="3739680" cy="365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Image 0" descr="/home/claude/imgs/img-009.png"/>
          <p:cNvPicPr/>
          <p:nvPr/>
        </p:nvPicPr>
        <p:blipFill>
          <a:blip r:embed="rId1"/>
          <a:stretch/>
        </p:blipFill>
        <p:spPr>
          <a:xfrm>
            <a:off x="502920" y="1280160"/>
            <a:ext cx="3520080" cy="3200040"/>
          </a:xfrm>
          <a:prstGeom prst="rect">
            <a:avLst/>
          </a:prstGeom>
          <a:ln w="0">
            <a:noFill/>
          </a:ln>
        </p:spPr>
      </p:pic>
      <p:sp>
        <p:nvSpPr>
          <p:cNvPr id="189" name="Text 3"/>
          <p:cNvSpPr/>
          <p:nvPr/>
        </p:nvSpPr>
        <p:spPr>
          <a:xfrm>
            <a:off x="457200" y="449892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MonthlyCharges vs TotalCharges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4"/>
          <p:cNvSpPr/>
          <p:nvPr/>
        </p:nvSpPr>
        <p:spPr>
          <a:xfrm>
            <a:off x="4142160" y="1170360"/>
            <a:ext cx="3739680" cy="365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1" name="Image 1" descr="/home/claude/imgs/cropped/img-010-chart.png"/>
          <p:cNvPicPr/>
          <p:nvPr/>
        </p:nvPicPr>
        <p:blipFill>
          <a:blip r:embed="rId2"/>
          <a:stretch/>
        </p:blipFill>
        <p:spPr>
          <a:xfrm>
            <a:off x="4251960" y="1280160"/>
            <a:ext cx="3520080" cy="3200040"/>
          </a:xfrm>
          <a:prstGeom prst="rect">
            <a:avLst/>
          </a:prstGeom>
          <a:ln w="0">
            <a:noFill/>
          </a:ln>
        </p:spPr>
      </p:pic>
      <p:sp>
        <p:nvSpPr>
          <p:cNvPr id="192" name="Text 5"/>
          <p:cNvSpPr/>
          <p:nvPr/>
        </p:nvSpPr>
        <p:spPr>
          <a:xfrm>
            <a:off x="4206240" y="449892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Monthly Charges by Churn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7891200" y="1170360"/>
            <a:ext cx="3739680" cy="365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Image 2" descr="/home/claude/imgs/img-011.png"/>
          <p:cNvPicPr/>
          <p:nvPr/>
        </p:nvPicPr>
        <p:blipFill>
          <a:blip r:embed="rId3"/>
          <a:stretch/>
        </p:blipFill>
        <p:spPr>
          <a:xfrm>
            <a:off x="8001000" y="1280160"/>
            <a:ext cx="3520080" cy="3200040"/>
          </a:xfrm>
          <a:prstGeom prst="rect">
            <a:avLst/>
          </a:prstGeom>
          <a:ln w="0">
            <a:noFill/>
          </a:ln>
        </p:spPr>
      </p:pic>
      <p:sp>
        <p:nvSpPr>
          <p:cNvPr id="195" name="Text 7"/>
          <p:cNvSpPr/>
          <p:nvPr/>
        </p:nvSpPr>
        <p:spPr>
          <a:xfrm>
            <a:off x="7955280" y="449892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Total Charges by Churn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8"/>
          <p:cNvSpPr/>
          <p:nvPr/>
        </p:nvSpPr>
        <p:spPr>
          <a:xfrm>
            <a:off x="502920" y="4709160"/>
            <a:ext cx="11182680" cy="1599840"/>
          </a:xfrm>
          <a:prstGeom prst="roundRect">
            <a:avLst>
              <a:gd name="adj" fmla="val 5714"/>
            </a:avLst>
          </a:prstGeom>
          <a:solidFill>
            <a:srgbClr val="f2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777240" y="482796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28090"/>
                </a:solidFill>
                <a:latin typeface="Calibri"/>
                <a:ea typeface="Calibri"/>
              </a:rPr>
              <a:t>KEY INSIGHTS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0"/>
          <p:cNvSpPr/>
          <p:nvPr/>
        </p:nvSpPr>
        <p:spPr>
          <a:xfrm>
            <a:off x="777240" y="5120640"/>
            <a:ext cx="53946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8000"/>
              </a:lnSpc>
              <a:spcAft>
                <a:spcPts val="799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130" spc="-1" strike="noStrike">
                <a:solidFill>
                  <a:srgbClr val="0b2027"/>
                </a:solidFill>
                <a:latin typeface="Calibri"/>
                <a:ea typeface="Calibri"/>
              </a:rPr>
              <a:t>Monthly vs Total Charges: a strong positive relationship  customers who pay more per month also build up higher total charges, which makes sense since total charges add up from monthly charges over time.</a:t>
            </a:r>
            <a:endParaRPr b="0" lang="en-IN" sz="113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spcAft>
                <a:spcPts val="799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130" spc="-1" strike="noStrike">
                <a:solidFill>
                  <a:srgbClr val="0b2027"/>
                </a:solidFill>
                <a:latin typeface="Calibri"/>
                <a:ea typeface="Calibri"/>
              </a:rPr>
              <a:t>Monthly Charges by Churn: churned customers cluster around the higher charge range (₹70-100), while loyal customers peak at the low end (~₹20). Higher monthly bills raise churn risk.</a:t>
            </a:r>
            <a:endParaRPr b="0" lang="en-IN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1"/>
          <p:cNvSpPr/>
          <p:nvPr/>
        </p:nvSpPr>
        <p:spPr>
          <a:xfrm>
            <a:off x="6309360" y="5120640"/>
            <a:ext cx="53946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8000"/>
              </a:lnSpc>
              <a:spcAft>
                <a:spcPts val="799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130" spc="-1" strike="noStrike">
                <a:solidFill>
                  <a:srgbClr val="0b2027"/>
                </a:solidFill>
                <a:latin typeface="Calibri"/>
                <a:ea typeface="Calibri"/>
              </a:rPr>
              <a:t>Total Charges by Churn (surprising insight): churned customers actually show LOWER total charges. This is not a contradiction  it happens because churned customers pay high monthly bills but leave early (low tenure), so their total spend never grows large.</a:t>
            </a:r>
            <a:endParaRPr b="0" lang="en-IN" sz="113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spcAft>
                <a:spcPts val="799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130" spc="-1" strike="noStrike">
                <a:solidFill>
                  <a:srgbClr val="0b2027"/>
                </a:solidFill>
                <a:latin typeface="Calibri"/>
                <a:ea typeface="Calibri"/>
              </a:rPr>
              <a:t>No extreme outliers were found in either charge column  both distributions are smooth, with no unusual spikes.</a:t>
            </a:r>
            <a:endParaRPr b="0" lang="en-IN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2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Customer Churn Analysis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3"/>
          <p:cNvSpPr/>
          <p:nvPr/>
        </p:nvSpPr>
        <p:spPr>
          <a:xfrm>
            <a:off x="11274480" y="6528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8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502920" y="38412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2027"/>
                </a:solidFill>
                <a:latin typeface="Cambria"/>
                <a:ea typeface="Cambria"/>
              </a:rPr>
              <a:t>Bivariate Analysis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521280" y="1461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028090"/>
                </a:solidFill>
                <a:latin typeface="Calibri"/>
                <a:ea typeface="Calibri"/>
              </a:rPr>
              <a:t>EVERY FEATURE VS CHURN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"/>
          <p:cNvSpPr/>
          <p:nvPr/>
        </p:nvSpPr>
        <p:spPr>
          <a:xfrm>
            <a:off x="393120" y="1170360"/>
            <a:ext cx="6757200" cy="466308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Image 0" descr="/home/claude/imgs/cropped/img-012-chart.png"/>
          <p:cNvPicPr/>
          <p:nvPr/>
        </p:nvPicPr>
        <p:blipFill>
          <a:blip r:embed="rId1"/>
          <a:stretch/>
        </p:blipFill>
        <p:spPr>
          <a:xfrm>
            <a:off x="502920" y="1280160"/>
            <a:ext cx="6537600" cy="4205880"/>
          </a:xfrm>
          <a:prstGeom prst="rect">
            <a:avLst/>
          </a:prstGeom>
          <a:ln w="0">
            <a:noFill/>
          </a:ln>
        </p:spPr>
      </p:pic>
      <p:sp>
        <p:nvSpPr>
          <p:cNvPr id="206" name="Text 3"/>
          <p:cNvSpPr/>
          <p:nvPr/>
        </p:nvSpPr>
        <p:spPr>
          <a:xfrm>
            <a:off x="457200" y="5504760"/>
            <a:ext cx="6629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Correlation of each predictor with Churn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7360920" y="1280160"/>
            <a:ext cx="4343040" cy="4205880"/>
          </a:xfrm>
          <a:prstGeom prst="roundRect">
            <a:avLst>
              <a:gd name="adj" fmla="val 2174"/>
            </a:avLst>
          </a:prstGeom>
          <a:solidFill>
            <a:srgbClr val="f2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5"/>
          <p:cNvSpPr/>
          <p:nvPr/>
        </p:nvSpPr>
        <p:spPr>
          <a:xfrm>
            <a:off x="7589520" y="144468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28090"/>
                </a:solidFill>
                <a:latin typeface="Calibri"/>
                <a:ea typeface="Calibri"/>
              </a:rPr>
              <a:t>HOW TO READ THIS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6"/>
          <p:cNvSpPr/>
          <p:nvPr/>
        </p:nvSpPr>
        <p:spPr>
          <a:xfrm>
            <a:off x="7589520" y="1755720"/>
            <a:ext cx="3840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b2027"/>
                </a:solidFill>
                <a:latin typeface="Calibri"/>
                <a:ea typeface="Calibri"/>
              </a:rPr>
              <a:t>This chart ranks every feature by how strongly it relates to Churn. Bars above zero push churn up, bars below zero pull churn down.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7589520" y="265176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e4572e"/>
                </a:solidFill>
                <a:latin typeface="Calibri"/>
                <a:ea typeface="Calibri"/>
              </a:rPr>
              <a:t>RAISES CHURN RISK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8"/>
          <p:cNvSpPr/>
          <p:nvPr/>
        </p:nvSpPr>
        <p:spPr>
          <a:xfrm>
            <a:off x="7589520" y="294444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8000"/>
              </a:lnSpc>
              <a:spcAft>
                <a:spcPts val="499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150" spc="-1" strike="noStrike">
                <a:solidFill>
                  <a:srgbClr val="0b2027"/>
                </a:solidFill>
                <a:latin typeface="Calibri"/>
                <a:ea typeface="Calibri"/>
              </a:rPr>
              <a:t>Month-to-month contract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spcAft>
                <a:spcPts val="499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150" spc="-1" strike="noStrike">
                <a:solidFill>
                  <a:srgbClr val="0b2027"/>
                </a:solidFill>
                <a:latin typeface="Calibri"/>
                <a:ea typeface="Calibri"/>
              </a:rPr>
              <a:t>Fiber optic internet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spcAft>
                <a:spcPts val="499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150" spc="-1" strike="noStrike">
                <a:solidFill>
                  <a:srgbClr val="0b2027"/>
                </a:solidFill>
                <a:latin typeface="Calibri"/>
                <a:ea typeface="Calibri"/>
              </a:rPr>
              <a:t>Payment by Electronic check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9"/>
          <p:cNvSpPr/>
          <p:nvPr/>
        </p:nvSpPr>
        <p:spPr>
          <a:xfrm>
            <a:off x="7589520" y="411480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2c39a"/>
                </a:solidFill>
                <a:latin typeface="Calibri"/>
                <a:ea typeface="Calibri"/>
              </a:rPr>
              <a:t>LOWERS CHURN RISK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0"/>
          <p:cNvSpPr/>
          <p:nvPr/>
        </p:nvSpPr>
        <p:spPr>
          <a:xfrm>
            <a:off x="7589520" y="440748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8000"/>
              </a:lnSpc>
              <a:spcAft>
                <a:spcPts val="499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150" spc="-1" strike="noStrike">
                <a:solidFill>
                  <a:srgbClr val="0b2027"/>
                </a:solidFill>
                <a:latin typeface="Calibri"/>
                <a:ea typeface="Calibri"/>
              </a:rPr>
              <a:t>Long tenure (61-72 months)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spcAft>
                <a:spcPts val="499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150" spc="-1" strike="noStrike">
                <a:solidFill>
                  <a:srgbClr val="0b2027"/>
                </a:solidFill>
                <a:latin typeface="Calibri"/>
                <a:ea typeface="Calibri"/>
              </a:rPr>
              <a:t>Two year contract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spcAft>
                <a:spcPts val="499"/>
              </a:spcAft>
              <a:buClr>
                <a:srgbClr val="0b2027"/>
              </a:buClr>
              <a:buFont typeface="OpenSymbol"/>
              <a:buChar char="▪"/>
            </a:pPr>
            <a:r>
              <a:rPr b="0" lang="en-US" sz="1150" spc="-1" strike="noStrike">
                <a:solidFill>
                  <a:srgbClr val="0b2027"/>
                </a:solidFill>
                <a:latin typeface="Calibri"/>
                <a:ea typeface="Calibri"/>
              </a:rPr>
              <a:t>Having Online Security / Tech Support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1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Customer Churn Analysis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2"/>
          <p:cNvSpPr/>
          <p:nvPr/>
        </p:nvSpPr>
        <p:spPr>
          <a:xfrm>
            <a:off x="11274480" y="6528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9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502920" y="38412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2027"/>
                </a:solidFill>
                <a:latin typeface="Cambria"/>
                <a:ea typeface="Cambria"/>
              </a:rPr>
              <a:t>Correlation Analysis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521280" y="1461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028090"/>
                </a:solidFill>
                <a:latin typeface="Calibri"/>
                <a:ea typeface="Calibri"/>
              </a:rPr>
              <a:t>FULL CORRELATION HEATMAP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393120" y="1124640"/>
            <a:ext cx="6940080" cy="553176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 w="12700">
            <a:solidFill>
              <a:srgbClr val="d8e8e8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9" name="Image 0" descr="/home/claude/imgs/img-013.png"/>
          <p:cNvPicPr/>
          <p:nvPr/>
        </p:nvPicPr>
        <p:blipFill>
          <a:blip r:embed="rId1"/>
          <a:stretch/>
        </p:blipFill>
        <p:spPr>
          <a:xfrm>
            <a:off x="502920" y="1234440"/>
            <a:ext cx="6720480" cy="5074560"/>
          </a:xfrm>
          <a:prstGeom prst="rect">
            <a:avLst/>
          </a:prstGeom>
          <a:ln w="0">
            <a:noFill/>
          </a:ln>
        </p:spPr>
      </p:pic>
      <p:sp>
        <p:nvSpPr>
          <p:cNvPr id="220" name="Text 3"/>
          <p:cNvSpPr/>
          <p:nvPr/>
        </p:nvSpPr>
        <p:spPr>
          <a:xfrm>
            <a:off x="457200" y="6327720"/>
            <a:ext cx="6811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Correlation heatmap of all features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4"/>
          <p:cNvSpPr/>
          <p:nvPr/>
        </p:nvSpPr>
        <p:spPr>
          <a:xfrm>
            <a:off x="7452360" y="1234440"/>
            <a:ext cx="4251600" cy="5074560"/>
          </a:xfrm>
          <a:prstGeom prst="roundRect">
            <a:avLst>
              <a:gd name="adj" fmla="val 2151"/>
            </a:avLst>
          </a:prstGeom>
          <a:solidFill>
            <a:srgbClr val="f2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7680960" y="141732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28090"/>
                </a:solidFill>
                <a:latin typeface="Calibri"/>
                <a:ea typeface="Calibri"/>
              </a:rPr>
              <a:t>POSITIVE CORRELATION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6"/>
          <p:cNvSpPr/>
          <p:nvPr/>
        </p:nvSpPr>
        <p:spPr>
          <a:xfrm>
            <a:off x="7680960" y="1719000"/>
            <a:ext cx="3794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b2027"/>
                </a:solidFill>
                <a:latin typeface="Calibri"/>
                <a:ea typeface="Calibri"/>
              </a:rPr>
              <a:t>MonthlyCharges is positively correlated with Fiber optic internet fiber customers usually pay more per month.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7"/>
          <p:cNvSpPr/>
          <p:nvPr/>
        </p:nvSpPr>
        <p:spPr>
          <a:xfrm>
            <a:off x="7680960" y="260604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0a896"/>
                </a:solidFill>
                <a:latin typeface="Calibri"/>
                <a:ea typeface="Calibri"/>
              </a:rPr>
              <a:t>NEGATIVE CORRELATION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8"/>
          <p:cNvSpPr/>
          <p:nvPr/>
        </p:nvSpPr>
        <p:spPr>
          <a:xfrm>
            <a:off x="7680960" y="2907720"/>
            <a:ext cx="3794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b2027"/>
                </a:solidFill>
                <a:latin typeface="Calibri"/>
                <a:ea typeface="Calibri"/>
              </a:rPr>
              <a:t>Long tenure groups and Two year contracts are negatively correlated with Churn as these go up, churn goes down.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9"/>
          <p:cNvSpPr/>
          <p:nvPr/>
        </p:nvSpPr>
        <p:spPr>
          <a:xfrm>
            <a:off x="7680960" y="379476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e4572e"/>
                </a:solidFill>
                <a:latin typeface="Calibri"/>
                <a:ea typeface="Calibri"/>
              </a:rPr>
              <a:t>DERIVED INSIGHT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0"/>
          <p:cNvSpPr/>
          <p:nvPr/>
        </p:nvSpPr>
        <p:spPr>
          <a:xfrm>
            <a:off x="7680960" y="4096440"/>
            <a:ext cx="37944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b2027"/>
                </a:solidFill>
                <a:latin typeface="Calibri"/>
                <a:ea typeface="Calibri"/>
              </a:rPr>
              <a:t>High churn clusters around month-to-month contracts, no online security, no tech support, first-year customers, and fibre optic internet. Low churn clusters around long contracts, no-internet subscriptions, and customers who stayed 5+ years.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1"/>
          <p:cNvSpPr/>
          <p:nvPr/>
        </p:nvSpPr>
        <p:spPr>
          <a:xfrm>
            <a:off x="7680960" y="5623560"/>
            <a:ext cx="3794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7d"/>
                </a:solidFill>
                <a:latin typeface="Calibri"/>
                <a:ea typeface="Calibri"/>
              </a:rPr>
              <a:t>Gender, phone service and multiple lines show almost no relationship with churn.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12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Customer Churn Analysis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3"/>
          <p:cNvSpPr/>
          <p:nvPr/>
        </p:nvSpPr>
        <p:spPr>
          <a:xfrm>
            <a:off x="11274480" y="6528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10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0"/>
          <p:cNvSpPr/>
          <p:nvPr/>
        </p:nvSpPr>
        <p:spPr>
          <a:xfrm>
            <a:off x="9601200" y="4754880"/>
            <a:ext cx="4571640" cy="4571640"/>
          </a:xfrm>
          <a:prstGeom prst="ellipse">
            <a:avLst/>
          </a:prstGeom>
          <a:solidFill>
            <a:srgbClr val="028090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"/>
          <p:cNvSpPr/>
          <p:nvPr/>
        </p:nvSpPr>
        <p:spPr>
          <a:xfrm>
            <a:off x="502920" y="38412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Key Business Insights</a:t>
            </a:r>
            <a:endParaRPr b="0" lang="en-IN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2"/>
          <p:cNvSpPr/>
          <p:nvPr/>
        </p:nvSpPr>
        <p:spPr>
          <a:xfrm>
            <a:off x="521280" y="1461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02c39a"/>
                </a:solidFill>
                <a:latin typeface="Calibri"/>
                <a:ea typeface="Calibri"/>
              </a:rPr>
              <a:t>PUTTING IT ALL TOGETHER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3"/>
          <p:cNvSpPr/>
          <p:nvPr/>
        </p:nvSpPr>
        <p:spPr>
          <a:xfrm>
            <a:off x="502920" y="132588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4"/>
          <p:cNvSpPr/>
          <p:nvPr/>
        </p:nvSpPr>
        <p:spPr>
          <a:xfrm>
            <a:off x="502920" y="1325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5"/>
          <p:cNvSpPr/>
          <p:nvPr/>
        </p:nvSpPr>
        <p:spPr>
          <a:xfrm>
            <a:off x="1005840" y="1271160"/>
            <a:ext cx="4859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7f5f4"/>
                </a:solidFill>
                <a:latin typeface="Calibri"/>
                <a:ea typeface="Calibri"/>
              </a:rPr>
              <a:t>Senior citizens churn at a much higher rate than non-senior citizens.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6"/>
          <p:cNvSpPr/>
          <p:nvPr/>
        </p:nvSpPr>
        <p:spPr>
          <a:xfrm>
            <a:off x="6323040" y="132588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7"/>
          <p:cNvSpPr/>
          <p:nvPr/>
        </p:nvSpPr>
        <p:spPr>
          <a:xfrm>
            <a:off x="6323040" y="1325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8"/>
          <p:cNvSpPr/>
          <p:nvPr/>
        </p:nvSpPr>
        <p:spPr>
          <a:xfrm>
            <a:off x="6825960" y="1271160"/>
            <a:ext cx="4859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7f5f4"/>
                </a:solidFill>
                <a:latin typeface="Calibri"/>
                <a:ea typeface="Calibri"/>
              </a:rPr>
              <a:t>Month-to-month contracts drive the most churn; long-term contracts build loyalty.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9"/>
          <p:cNvSpPr/>
          <p:nvPr/>
        </p:nvSpPr>
        <p:spPr>
          <a:xfrm>
            <a:off x="502920" y="246888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10"/>
          <p:cNvSpPr/>
          <p:nvPr/>
        </p:nvSpPr>
        <p:spPr>
          <a:xfrm>
            <a:off x="502920" y="2468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11"/>
          <p:cNvSpPr/>
          <p:nvPr/>
        </p:nvSpPr>
        <p:spPr>
          <a:xfrm>
            <a:off x="1005840" y="2414160"/>
            <a:ext cx="4859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7f5f4"/>
                </a:solidFill>
                <a:latin typeface="Calibri"/>
                <a:ea typeface="Calibri"/>
              </a:rPr>
              <a:t>Customers without a partner churn more than customers with a partner.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12"/>
          <p:cNvSpPr/>
          <p:nvPr/>
        </p:nvSpPr>
        <p:spPr>
          <a:xfrm>
            <a:off x="6323040" y="246888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13"/>
          <p:cNvSpPr/>
          <p:nvPr/>
        </p:nvSpPr>
        <p:spPr>
          <a:xfrm>
            <a:off x="6323040" y="2468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14"/>
          <p:cNvSpPr/>
          <p:nvPr/>
        </p:nvSpPr>
        <p:spPr>
          <a:xfrm>
            <a:off x="6825960" y="2414160"/>
            <a:ext cx="4859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7f5f4"/>
                </a:solidFill>
                <a:latin typeface="Calibri"/>
                <a:ea typeface="Calibri"/>
              </a:rPr>
              <a:t>Electronic check is the highest-risk payment method for churn.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15"/>
          <p:cNvSpPr/>
          <p:nvPr/>
        </p:nvSpPr>
        <p:spPr>
          <a:xfrm>
            <a:off x="502920" y="361188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16"/>
          <p:cNvSpPr/>
          <p:nvPr/>
        </p:nvSpPr>
        <p:spPr>
          <a:xfrm>
            <a:off x="502920" y="3611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17"/>
          <p:cNvSpPr/>
          <p:nvPr/>
        </p:nvSpPr>
        <p:spPr>
          <a:xfrm>
            <a:off x="1005840" y="3557160"/>
            <a:ext cx="4859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7f5f4"/>
                </a:solidFill>
                <a:latin typeface="Calibri"/>
                <a:ea typeface="Calibri"/>
              </a:rPr>
              <a:t>No Online Security or No Tech Support strongly increases churn.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18"/>
          <p:cNvSpPr/>
          <p:nvPr/>
        </p:nvSpPr>
        <p:spPr>
          <a:xfrm>
            <a:off x="6323040" y="361188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9"/>
          <p:cNvSpPr/>
          <p:nvPr/>
        </p:nvSpPr>
        <p:spPr>
          <a:xfrm>
            <a:off x="6323040" y="3611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20"/>
          <p:cNvSpPr/>
          <p:nvPr/>
        </p:nvSpPr>
        <p:spPr>
          <a:xfrm>
            <a:off x="6825960" y="3557160"/>
            <a:ext cx="4859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7f5f4"/>
                </a:solidFill>
                <a:latin typeface="Calibri"/>
                <a:ea typeface="Calibri"/>
              </a:rPr>
              <a:t>Fiber optic internet customers churn more than DSL or no-internet customers.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21"/>
          <p:cNvSpPr/>
          <p:nvPr/>
        </p:nvSpPr>
        <p:spPr>
          <a:xfrm>
            <a:off x="502920" y="475488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22"/>
          <p:cNvSpPr/>
          <p:nvPr/>
        </p:nvSpPr>
        <p:spPr>
          <a:xfrm>
            <a:off x="502920" y="4754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7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23"/>
          <p:cNvSpPr/>
          <p:nvPr/>
        </p:nvSpPr>
        <p:spPr>
          <a:xfrm>
            <a:off x="1005840" y="4700160"/>
            <a:ext cx="4859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7f5f4"/>
                </a:solidFill>
                <a:latin typeface="Calibri"/>
                <a:ea typeface="Calibri"/>
              </a:rPr>
              <a:t>Higher Monthly Charges raise churn risk, but churned customers show lower Total Charges since they leave early.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24"/>
          <p:cNvSpPr/>
          <p:nvPr/>
        </p:nvSpPr>
        <p:spPr>
          <a:xfrm>
            <a:off x="6323040" y="475488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25"/>
          <p:cNvSpPr/>
          <p:nvPr/>
        </p:nvSpPr>
        <p:spPr>
          <a:xfrm>
            <a:off x="6323040" y="4754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8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26"/>
          <p:cNvSpPr/>
          <p:nvPr/>
        </p:nvSpPr>
        <p:spPr>
          <a:xfrm>
            <a:off x="6825960" y="4700160"/>
            <a:ext cx="4859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7f5f4"/>
                </a:solidFill>
                <a:latin typeface="Calibri"/>
                <a:ea typeface="Calibri"/>
              </a:rPr>
              <a:t>New customers (first 12 months) are the highest-risk group for churn.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Shape 27"/>
          <p:cNvSpPr/>
          <p:nvPr/>
        </p:nvSpPr>
        <p:spPr>
          <a:xfrm>
            <a:off x="502920" y="589788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28"/>
          <p:cNvSpPr/>
          <p:nvPr/>
        </p:nvSpPr>
        <p:spPr>
          <a:xfrm>
            <a:off x="502920" y="5897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9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29"/>
          <p:cNvSpPr/>
          <p:nvPr/>
        </p:nvSpPr>
        <p:spPr>
          <a:xfrm>
            <a:off x="1005840" y="5843160"/>
            <a:ext cx="4859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7f5f4"/>
                </a:solidFill>
                <a:latin typeface="Calibri"/>
                <a:ea typeface="Calibri"/>
              </a:rPr>
              <a:t>Monthly Charges and Total Charges are strongly and positively correlated.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30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fc6c8"/>
                </a:solidFill>
                <a:latin typeface="Calibri"/>
                <a:ea typeface="Calibri"/>
              </a:rPr>
              <a:t>Customer Churn Analysis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31"/>
          <p:cNvSpPr/>
          <p:nvPr/>
        </p:nvSpPr>
        <p:spPr>
          <a:xfrm>
            <a:off x="11274480" y="6528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fc6c8"/>
                </a:solidFill>
                <a:latin typeface="Calibri"/>
                <a:ea typeface="Calibri"/>
              </a:rPr>
              <a:t>11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 0"/>
          <p:cNvSpPr/>
          <p:nvPr/>
        </p:nvSpPr>
        <p:spPr>
          <a:xfrm>
            <a:off x="502920" y="38412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2027"/>
                </a:solidFill>
                <a:latin typeface="Cambria"/>
                <a:ea typeface="Cambria"/>
              </a:rPr>
              <a:t>Business Recommendations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1"/>
          <p:cNvSpPr/>
          <p:nvPr/>
        </p:nvSpPr>
        <p:spPr>
          <a:xfrm>
            <a:off x="521280" y="1461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028090"/>
                </a:solidFill>
                <a:latin typeface="Calibri"/>
                <a:ea typeface="Calibri"/>
              </a:rPr>
              <a:t>WHAT THE COMPANY SHOULD DO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2"/>
          <p:cNvSpPr/>
          <p:nvPr/>
        </p:nvSpPr>
        <p:spPr>
          <a:xfrm>
            <a:off x="502920" y="1280160"/>
            <a:ext cx="3513960" cy="21027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beb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3"/>
          <p:cNvSpPr/>
          <p:nvPr/>
        </p:nvSpPr>
        <p:spPr>
          <a:xfrm>
            <a:off x="731520" y="1508760"/>
            <a:ext cx="411120" cy="41112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731520" y="15087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5"/>
          <p:cNvSpPr/>
          <p:nvPr/>
        </p:nvSpPr>
        <p:spPr>
          <a:xfrm>
            <a:off x="731520" y="2057400"/>
            <a:ext cx="305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b2027"/>
                </a:solidFill>
                <a:latin typeface="Cambria"/>
                <a:ea typeface="Cambria"/>
              </a:rPr>
              <a:t>Push Long-Term Contracts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731520" y="2514600"/>
            <a:ext cx="3056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5b7a7d"/>
                </a:solidFill>
                <a:latin typeface="Calibri"/>
                <a:ea typeface="Calibri"/>
              </a:rPr>
              <a:t>Offer discounts or perks to move month-to-month customers onto yearly or two-year plans, since these customers churn the least.</a:t>
            </a:r>
            <a:endParaRPr b="0" lang="en-IN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7"/>
          <p:cNvSpPr/>
          <p:nvPr/>
        </p:nvSpPr>
        <p:spPr>
          <a:xfrm>
            <a:off x="4337280" y="1280160"/>
            <a:ext cx="3513960" cy="21027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beb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8"/>
          <p:cNvSpPr/>
          <p:nvPr/>
        </p:nvSpPr>
        <p:spPr>
          <a:xfrm>
            <a:off x="4565880" y="1508760"/>
            <a:ext cx="411120" cy="4111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9"/>
          <p:cNvSpPr/>
          <p:nvPr/>
        </p:nvSpPr>
        <p:spPr>
          <a:xfrm>
            <a:off x="4565880" y="15087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10"/>
          <p:cNvSpPr/>
          <p:nvPr/>
        </p:nvSpPr>
        <p:spPr>
          <a:xfrm>
            <a:off x="4565880" y="2057400"/>
            <a:ext cx="305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b2027"/>
                </a:solidFill>
                <a:latin typeface="Cambria"/>
                <a:ea typeface="Cambria"/>
              </a:rPr>
              <a:t>Protect New Customers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11"/>
          <p:cNvSpPr/>
          <p:nvPr/>
        </p:nvSpPr>
        <p:spPr>
          <a:xfrm>
            <a:off x="4565880" y="2514600"/>
            <a:ext cx="3056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5b7a7d"/>
                </a:solidFill>
                <a:latin typeface="Calibri"/>
                <a:ea typeface="Calibri"/>
              </a:rPr>
              <a:t>Create a welcome/loyalty program for the first 12 months — this is the highest-risk window for losing a customer.</a:t>
            </a:r>
            <a:endParaRPr b="0" lang="en-IN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2"/>
          <p:cNvSpPr/>
          <p:nvPr/>
        </p:nvSpPr>
        <p:spPr>
          <a:xfrm>
            <a:off x="8171640" y="1280160"/>
            <a:ext cx="3513960" cy="21027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beb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3"/>
          <p:cNvSpPr/>
          <p:nvPr/>
        </p:nvSpPr>
        <p:spPr>
          <a:xfrm>
            <a:off x="8400240" y="1508760"/>
            <a:ext cx="411120" cy="4111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4"/>
          <p:cNvSpPr/>
          <p:nvPr/>
        </p:nvSpPr>
        <p:spPr>
          <a:xfrm>
            <a:off x="8400240" y="15087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15"/>
          <p:cNvSpPr/>
          <p:nvPr/>
        </p:nvSpPr>
        <p:spPr>
          <a:xfrm>
            <a:off x="8400240" y="2057400"/>
            <a:ext cx="305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b2027"/>
                </a:solidFill>
                <a:latin typeface="Cambria"/>
                <a:ea typeface="Cambria"/>
              </a:rPr>
              <a:t>Support Senior Citizens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16"/>
          <p:cNvSpPr/>
          <p:nvPr/>
        </p:nvSpPr>
        <p:spPr>
          <a:xfrm>
            <a:off x="8400240" y="2514600"/>
            <a:ext cx="3056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5b7a7d"/>
                </a:solidFill>
                <a:latin typeface="Calibri"/>
                <a:ea typeface="Calibri"/>
              </a:rPr>
              <a:t>Design simpler plans and a dedicated support line for senior citizens, who churn at a much higher rate.</a:t>
            </a:r>
            <a:endParaRPr b="0" lang="en-IN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17"/>
          <p:cNvSpPr/>
          <p:nvPr/>
        </p:nvSpPr>
        <p:spPr>
          <a:xfrm>
            <a:off x="502920" y="3611880"/>
            <a:ext cx="3513960" cy="21027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beb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18"/>
          <p:cNvSpPr/>
          <p:nvPr/>
        </p:nvSpPr>
        <p:spPr>
          <a:xfrm>
            <a:off x="731520" y="3840480"/>
            <a:ext cx="411120" cy="41112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19"/>
          <p:cNvSpPr/>
          <p:nvPr/>
        </p:nvSpPr>
        <p:spPr>
          <a:xfrm>
            <a:off x="731520" y="38404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20"/>
          <p:cNvSpPr/>
          <p:nvPr/>
        </p:nvSpPr>
        <p:spPr>
          <a:xfrm>
            <a:off x="731520" y="4389120"/>
            <a:ext cx="305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b2027"/>
                </a:solidFill>
                <a:latin typeface="Cambria"/>
                <a:ea typeface="Cambria"/>
              </a:rPr>
              <a:t>Bundle Add-On Services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21"/>
          <p:cNvSpPr/>
          <p:nvPr/>
        </p:nvSpPr>
        <p:spPr>
          <a:xfrm>
            <a:off x="731520" y="4846320"/>
            <a:ext cx="3056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5b7a7d"/>
                </a:solidFill>
                <a:latin typeface="Calibri"/>
                <a:ea typeface="Calibri"/>
              </a:rPr>
              <a:t>Offer free or low-cost Online Security and Tech Support with Fiber optic plans to reduce churn in that segment.</a:t>
            </a:r>
            <a:endParaRPr b="0" lang="en-IN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22"/>
          <p:cNvSpPr/>
          <p:nvPr/>
        </p:nvSpPr>
        <p:spPr>
          <a:xfrm>
            <a:off x="4337280" y="3611880"/>
            <a:ext cx="3513960" cy="21027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beb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23"/>
          <p:cNvSpPr/>
          <p:nvPr/>
        </p:nvSpPr>
        <p:spPr>
          <a:xfrm>
            <a:off x="4565880" y="3840480"/>
            <a:ext cx="411120" cy="4111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24"/>
          <p:cNvSpPr/>
          <p:nvPr/>
        </p:nvSpPr>
        <p:spPr>
          <a:xfrm>
            <a:off x="4565880" y="38404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25"/>
          <p:cNvSpPr/>
          <p:nvPr/>
        </p:nvSpPr>
        <p:spPr>
          <a:xfrm>
            <a:off x="4565880" y="4389120"/>
            <a:ext cx="305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b2027"/>
                </a:solidFill>
                <a:latin typeface="Cambria"/>
                <a:ea typeface="Cambria"/>
              </a:rPr>
              <a:t>Fix the Electronic Check Experience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26"/>
          <p:cNvSpPr/>
          <p:nvPr/>
        </p:nvSpPr>
        <p:spPr>
          <a:xfrm>
            <a:off x="4565880" y="4846320"/>
            <a:ext cx="3056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5b7a7d"/>
                </a:solidFill>
                <a:latin typeface="Calibri"/>
                <a:ea typeface="Calibri"/>
              </a:rPr>
              <a:t>Investigate pain points in electronic check payments, and encourage customers to move to auto-pay methods.</a:t>
            </a:r>
            <a:endParaRPr b="0" lang="en-IN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27"/>
          <p:cNvSpPr/>
          <p:nvPr/>
        </p:nvSpPr>
        <p:spPr>
          <a:xfrm>
            <a:off x="8171640" y="3611880"/>
            <a:ext cx="3513960" cy="21027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beb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28"/>
          <p:cNvSpPr/>
          <p:nvPr/>
        </p:nvSpPr>
        <p:spPr>
          <a:xfrm>
            <a:off x="8400240" y="3840480"/>
            <a:ext cx="411120" cy="4111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29"/>
          <p:cNvSpPr/>
          <p:nvPr/>
        </p:nvSpPr>
        <p:spPr>
          <a:xfrm>
            <a:off x="8400240" y="38404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30"/>
          <p:cNvSpPr/>
          <p:nvPr/>
        </p:nvSpPr>
        <p:spPr>
          <a:xfrm>
            <a:off x="8400240" y="4389120"/>
            <a:ext cx="305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b2027"/>
                </a:solidFill>
                <a:latin typeface="Cambria"/>
                <a:ea typeface="Cambria"/>
              </a:rPr>
              <a:t>Watch High-Risk Spenders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31"/>
          <p:cNvSpPr/>
          <p:nvPr/>
        </p:nvSpPr>
        <p:spPr>
          <a:xfrm>
            <a:off x="8400240" y="4846320"/>
            <a:ext cx="3056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5b7a7d"/>
                </a:solidFill>
                <a:latin typeface="Calibri"/>
                <a:ea typeface="Calibri"/>
              </a:rPr>
              <a:t>Proactively reach out to customers with high monthly charges and low tenure before they decide to leave.</a:t>
            </a:r>
            <a:endParaRPr b="0" lang="en-IN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32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Customer Churn Analysis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33"/>
          <p:cNvSpPr/>
          <p:nvPr/>
        </p:nvSpPr>
        <p:spPr>
          <a:xfrm>
            <a:off x="11274480" y="6528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12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 0"/>
          <p:cNvSpPr/>
          <p:nvPr/>
        </p:nvSpPr>
        <p:spPr>
          <a:xfrm>
            <a:off x="502920" y="38412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2027"/>
                </a:solidFill>
                <a:latin typeface="Cambria"/>
                <a:ea typeface="Cambria"/>
              </a:rPr>
              <a:t>Project Summary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1"/>
          <p:cNvSpPr/>
          <p:nvPr/>
        </p:nvSpPr>
        <p:spPr>
          <a:xfrm>
            <a:off x="521280" y="1461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028090"/>
                </a:solidFill>
                <a:latin typeface="Calibri"/>
                <a:ea typeface="Calibri"/>
              </a:rPr>
              <a:t>CONCLUSION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2"/>
          <p:cNvSpPr/>
          <p:nvPr/>
        </p:nvSpPr>
        <p:spPr>
          <a:xfrm>
            <a:off x="502920" y="1371600"/>
            <a:ext cx="11182680" cy="1188360"/>
          </a:xfrm>
          <a:prstGeom prst="roundRect">
            <a:avLst>
              <a:gd name="adj" fmla="val 7692"/>
            </a:avLst>
          </a:prstGeom>
          <a:solidFill>
            <a:srgbClr val="f2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3"/>
          <p:cNvSpPr/>
          <p:nvPr/>
        </p:nvSpPr>
        <p:spPr>
          <a:xfrm>
            <a:off x="777240" y="1508760"/>
            <a:ext cx="1063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28090"/>
                </a:solidFill>
                <a:latin typeface="Calibri"/>
                <a:ea typeface="Calibri"/>
              </a:rPr>
              <a:t>Objective Achieved:  </a:t>
            </a:r>
            <a:r>
              <a:rPr b="0" lang="en-US" sz="1350" spc="-1" strike="noStrike">
                <a:solidFill>
                  <a:srgbClr val="0b2027"/>
                </a:solidFill>
                <a:latin typeface="Calibri"/>
                <a:ea typeface="Calibri"/>
              </a:rPr>
              <a:t>This project studied end-to-end telecom customer data to understand and explain customer churn — from cleaning raw data to finding clear, business-ready insights.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4"/>
          <p:cNvSpPr/>
          <p:nvPr/>
        </p:nvSpPr>
        <p:spPr>
          <a:xfrm>
            <a:off x="502920" y="2834640"/>
            <a:ext cx="3513960" cy="28800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1ebeb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5"/>
          <p:cNvSpPr/>
          <p:nvPr/>
        </p:nvSpPr>
        <p:spPr>
          <a:xfrm>
            <a:off x="731520" y="3090600"/>
            <a:ext cx="822600" cy="727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1240" bIns="2124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6"/>
          <p:cNvSpPr/>
          <p:nvPr/>
        </p:nvSpPr>
        <p:spPr>
          <a:xfrm>
            <a:off x="731520" y="3291840"/>
            <a:ext cx="3056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b2027"/>
                </a:solidFill>
                <a:latin typeface="Cambria"/>
                <a:ea typeface="Cambria"/>
              </a:rPr>
              <a:t>Major Findings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7"/>
          <p:cNvSpPr/>
          <p:nvPr/>
        </p:nvSpPr>
        <p:spPr>
          <a:xfrm>
            <a:off x="731520" y="3794760"/>
            <a:ext cx="30567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7a7d"/>
                </a:solidFill>
                <a:latin typeface="Calibri"/>
                <a:ea typeface="Calibri"/>
              </a:rPr>
              <a:t>Contract type, tenure, internet service, payment method and add-on services (like Tech Support) are the biggest drivers of churn. Gender and phone service barely matter.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8"/>
          <p:cNvSpPr/>
          <p:nvPr/>
        </p:nvSpPr>
        <p:spPr>
          <a:xfrm>
            <a:off x="4337280" y="2834640"/>
            <a:ext cx="3513960" cy="28800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1ebeb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9"/>
          <p:cNvSpPr/>
          <p:nvPr/>
        </p:nvSpPr>
        <p:spPr>
          <a:xfrm>
            <a:off x="4565880" y="3090600"/>
            <a:ext cx="822600" cy="727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1240" bIns="2124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0"/>
          <p:cNvSpPr/>
          <p:nvPr/>
        </p:nvSpPr>
        <p:spPr>
          <a:xfrm>
            <a:off x="4565880" y="3291840"/>
            <a:ext cx="3056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b2027"/>
                </a:solidFill>
                <a:latin typeface="Cambria"/>
                <a:ea typeface="Cambria"/>
              </a:rPr>
              <a:t>Business Value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1"/>
          <p:cNvSpPr/>
          <p:nvPr/>
        </p:nvSpPr>
        <p:spPr>
          <a:xfrm>
            <a:off x="4565880" y="3794760"/>
            <a:ext cx="30567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7a7d"/>
                </a:solidFill>
                <a:latin typeface="Calibri"/>
                <a:ea typeface="Calibri"/>
              </a:rPr>
              <a:t>The company can target the right customers with the right retention offer at the right time, instead of guessing  reducing revenue lost to churn.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12"/>
          <p:cNvSpPr/>
          <p:nvPr/>
        </p:nvSpPr>
        <p:spPr>
          <a:xfrm>
            <a:off x="8171640" y="2834640"/>
            <a:ext cx="3513960" cy="28800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1ebeb"/>
            </a:solidFill>
            <a:round/>
          </a:ln>
          <a:effectLst>
            <a:outerShdw algn="bl" blurRad="76320" dir="5400000" dist="25560" kx="0" ky="0" rotWithShape="0" sx="100000" sy="100000">
              <a:srgbClr val="1b4b4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13"/>
          <p:cNvSpPr/>
          <p:nvPr/>
        </p:nvSpPr>
        <p:spPr>
          <a:xfrm>
            <a:off x="8400240" y="3090600"/>
            <a:ext cx="822600" cy="72720"/>
          </a:xfrm>
          <a:prstGeom prst="roundRect">
            <a:avLst>
              <a:gd name="adj" fmla="val 16667"/>
            </a:avLst>
          </a:prstGeom>
          <a:solidFill>
            <a:srgbClr val="e457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1240" bIns="2124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14"/>
          <p:cNvSpPr/>
          <p:nvPr/>
        </p:nvSpPr>
        <p:spPr>
          <a:xfrm>
            <a:off x="8400240" y="3291840"/>
            <a:ext cx="3056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b2027"/>
                </a:solidFill>
                <a:latin typeface="Cambria"/>
                <a:ea typeface="Cambria"/>
              </a:rPr>
              <a:t>Tools &amp; Skills Used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15"/>
          <p:cNvSpPr/>
          <p:nvPr/>
        </p:nvSpPr>
        <p:spPr>
          <a:xfrm>
            <a:off x="8400240" y="3794760"/>
            <a:ext cx="30567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7a7d"/>
                </a:solidFill>
                <a:latin typeface="Calibri"/>
                <a:ea typeface="Calibri"/>
              </a:rPr>
              <a:t>Python, Pandas and NumPy for data cleaning and feature engineering; Matplotlib and Seaborn for univariate, bivariate and correlation analysis.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16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Customer Churn Analysis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17"/>
          <p:cNvSpPr/>
          <p:nvPr/>
        </p:nvSpPr>
        <p:spPr>
          <a:xfrm>
            <a:off x="11274480" y="6528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7a7d"/>
                </a:solidFill>
                <a:latin typeface="Calibri"/>
                <a:ea typeface="Calibri"/>
              </a:rPr>
              <a:t>13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-1828800" y="-2286000"/>
            <a:ext cx="5943240" cy="5943240"/>
          </a:xfrm>
          <a:prstGeom prst="ellipse">
            <a:avLst/>
          </a:prstGeom>
          <a:solidFill>
            <a:srgbClr val="02809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"/>
          <p:cNvSpPr/>
          <p:nvPr/>
        </p:nvSpPr>
        <p:spPr>
          <a:xfrm>
            <a:off x="8961120" y="3657600"/>
            <a:ext cx="5028840" cy="5028840"/>
          </a:xfrm>
          <a:prstGeom prst="ellipse">
            <a:avLst/>
          </a:prstGeom>
          <a:solidFill>
            <a:srgbClr val="00a896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2"/>
          <p:cNvSpPr/>
          <p:nvPr/>
        </p:nvSpPr>
        <p:spPr>
          <a:xfrm>
            <a:off x="0" y="2651760"/>
            <a:ext cx="12188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mbria"/>
                <a:ea typeface="Cambria"/>
              </a:rPr>
              <a:t>Thank You</a:t>
            </a:r>
            <a:endParaRPr b="0" lang="en-IN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3"/>
          <p:cNvSpPr/>
          <p:nvPr/>
        </p:nvSpPr>
        <p:spPr>
          <a:xfrm>
            <a:off x="0" y="3611880"/>
            <a:ext cx="1218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9fc6c8"/>
                </a:solidFill>
                <a:latin typeface="Calibri"/>
                <a:ea typeface="Calibri"/>
              </a:rPr>
              <a:t>Customer Churn Analysis  |  Data Analyst Portfolio Project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4"/>
          <p:cNvSpPr/>
          <p:nvPr/>
        </p:nvSpPr>
        <p:spPr>
          <a:xfrm>
            <a:off x="4997160" y="4251960"/>
            <a:ext cx="2194560" cy="360"/>
          </a:xfrm>
          <a:prstGeom prst="line">
            <a:avLst/>
          </a:prstGeom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5"/>
          <p:cNvSpPr/>
          <p:nvPr/>
        </p:nvSpPr>
        <p:spPr>
          <a:xfrm>
            <a:off x="0" y="4434840"/>
            <a:ext cx="1218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fa9ab"/>
                </a:solidFill>
                <a:latin typeface="Calibri"/>
                <a:ea typeface="Calibri"/>
              </a:rPr>
              <a:t>Swati Singh   |   swatisingh221006@gmail.com   |   linkedin.com/in/swati-singh-453277320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LibreOffice/7.6.2.1$Windows_X86_64 LibreOffice_project/56f7684011345957bbf33a7ee678afaf4d2ba333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2026-07-31T07:19:14Z</dcterms:created>
  <dc:creator>PptxGenJS</dc:creator>
  <dc:description/>
  <dc:language>en-IN</dc:language>
  <cp:lastModifiedBy/>
  <dcterms:modified xsi:type="dcterms:W3CDTF">2026-07-31T13:32:14Z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</vt:r8>
  </property>
  <property fmtid="{D5CDD505-2E9C-101B-9397-08002B2CF9AE}" pid="3" name="PresentationFormat">
    <vt:lpwstr>On-screen Show (16:9)</vt:lpwstr>
  </property>
  <property fmtid="{D5CDD505-2E9C-101B-9397-08002B2CF9AE}" pid="4" name="Slides">
    <vt:r8>14</vt:r8>
  </property>
</Properties>
</file>